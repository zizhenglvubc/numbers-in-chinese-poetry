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02" r:id="rId2"/>
    <p:sldMasterId id="2147483706" r:id="rId3"/>
  </p:sldMasterIdLst>
  <p:notesMasterIdLst>
    <p:notesMasterId r:id="rId19"/>
  </p:notesMasterIdLst>
  <p:sldIdLst>
    <p:sldId id="256" r:id="rId4"/>
    <p:sldId id="257" r:id="rId5"/>
    <p:sldId id="258" r:id="rId6"/>
    <p:sldId id="262" r:id="rId7"/>
    <p:sldId id="264" r:id="rId8"/>
    <p:sldId id="265" r:id="rId9"/>
    <p:sldId id="266" r:id="rId10"/>
    <p:sldId id="267" r:id="rId11"/>
    <p:sldId id="269" r:id="rId12"/>
    <p:sldId id="270" r:id="rId13"/>
    <p:sldId id="273" r:id="rId14"/>
    <p:sldId id="274" r:id="rId15"/>
    <p:sldId id="276" r:id="rId16"/>
    <p:sldId id="277" r:id="rId17"/>
    <p:sldId id="275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4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-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9A75B-9F59-C911-49BA-8E6B3AD76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1ADA3-583D-B093-3B63-1FB5E7B95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50173-AFA8-8E28-5455-CD8993479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213B7-083B-C837-F71F-120BDBA122B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1087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5D87D-C18E-DEC0-9890-ED300B5B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D403B-0B24-07FF-51E8-8E91D1AE7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63216-C1BE-985D-D43A-E3E3FFEF2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A2662-1877-248E-5A84-3B12B8A1511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1210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E2705139-C5BE-4BCB-9357-A0CC21A3E2A7}"/>
              </a:ext>
            </a:extLst>
          </p:cNvPr>
          <p:cNvSpPr>
            <a:spLocks noGrp="1"/>
          </p:cNvSpPr>
          <p:nvPr/>
        </p:nvSpPr>
        <p:spPr>
          <a:xfrm>
            <a:off x="160022" y="152126"/>
            <a:ext cx="11871959" cy="6500134"/>
          </a:xfrm>
          <a:custGeom>
            <a:avLst/>
            <a:gdLst>
              <a:gd name="connsiteX0" fmla="*/ 446654 w 11871959"/>
              <a:gd name="connsiteY0" fmla="*/ 0 h 6500134"/>
              <a:gd name="connsiteX1" fmla="*/ 11495685 w 11871959"/>
              <a:gd name="connsiteY1" fmla="*/ 0 h 6500134"/>
              <a:gd name="connsiteX2" fmla="*/ 11490280 w 11871959"/>
              <a:gd name="connsiteY2" fmla="*/ 53614 h 6500134"/>
              <a:gd name="connsiteX3" fmla="*/ 11815790 w 11871959"/>
              <a:gd name="connsiteY3" fmla="*/ 453002 h 6500134"/>
              <a:gd name="connsiteX4" fmla="*/ 11871959 w 11871959"/>
              <a:gd name="connsiteY4" fmla="*/ 458664 h 6500134"/>
              <a:gd name="connsiteX5" fmla="*/ 11871959 w 11871959"/>
              <a:gd name="connsiteY5" fmla="*/ 6041470 h 6500134"/>
              <a:gd name="connsiteX6" fmla="*/ 11815790 w 11871959"/>
              <a:gd name="connsiteY6" fmla="*/ 6047133 h 6500134"/>
              <a:gd name="connsiteX7" fmla="*/ 11490280 w 11871959"/>
              <a:gd name="connsiteY7" fmla="*/ 6446520 h 6500134"/>
              <a:gd name="connsiteX8" fmla="*/ 11495685 w 11871959"/>
              <a:gd name="connsiteY8" fmla="*/ 6500134 h 6500134"/>
              <a:gd name="connsiteX9" fmla="*/ 446654 w 11871959"/>
              <a:gd name="connsiteY9" fmla="*/ 6500134 h 6500134"/>
              <a:gd name="connsiteX10" fmla="*/ 452059 w 11871959"/>
              <a:gd name="connsiteY10" fmla="*/ 6446520 h 6500134"/>
              <a:gd name="connsiteX11" fmla="*/ 44389 w 11871959"/>
              <a:gd name="connsiteY11" fmla="*/ 6038850 h 6500134"/>
              <a:gd name="connsiteX12" fmla="*/ 0 w 11871959"/>
              <a:gd name="connsiteY12" fmla="*/ 6043325 h 6500134"/>
              <a:gd name="connsiteX13" fmla="*/ 0 w 11871959"/>
              <a:gd name="connsiteY13" fmla="*/ 456810 h 6500134"/>
              <a:gd name="connsiteX14" fmla="*/ 44389 w 11871959"/>
              <a:gd name="connsiteY14" fmla="*/ 461284 h 6500134"/>
              <a:gd name="connsiteX15" fmla="*/ 452059 w 11871959"/>
              <a:gd name="connsiteY15" fmla="*/ 53614 h 6500134"/>
            </a:gdLst>
            <a:ahLst/>
            <a:cxnLst/>
            <a:rect l="l" t="t" r="r" b="b"/>
            <a:pathLst>
              <a:path w="11871959" h="6500134">
                <a:moveTo>
                  <a:pt x="446654" y="0"/>
                </a:moveTo>
                <a:lnTo>
                  <a:pt x="11495685" y="0"/>
                </a:lnTo>
                <a:lnTo>
                  <a:pt x="11490280" y="53614"/>
                </a:lnTo>
                <a:cubicBezTo>
                  <a:pt x="11490280" y="250621"/>
                  <a:pt x="11630022" y="414988"/>
                  <a:pt x="11815790" y="453002"/>
                </a:cubicBezTo>
                <a:lnTo>
                  <a:pt x="11871959" y="458664"/>
                </a:lnTo>
                <a:lnTo>
                  <a:pt x="11871959" y="6041470"/>
                </a:lnTo>
                <a:lnTo>
                  <a:pt x="11815790" y="6047133"/>
                </a:lnTo>
                <a:cubicBezTo>
                  <a:pt x="11630022" y="6085146"/>
                  <a:pt x="11490280" y="6249514"/>
                  <a:pt x="11490280" y="6446520"/>
                </a:cubicBezTo>
                <a:lnTo>
                  <a:pt x="11495685" y="6500134"/>
                </a:lnTo>
                <a:lnTo>
                  <a:pt x="446654" y="6500134"/>
                </a:lnTo>
                <a:lnTo>
                  <a:pt x="452059" y="6446520"/>
                </a:lnTo>
                <a:cubicBezTo>
                  <a:pt x="452059" y="6221370"/>
                  <a:pt x="269539" y="6038850"/>
                  <a:pt x="44389" y="6038850"/>
                </a:cubicBezTo>
                <a:lnTo>
                  <a:pt x="0" y="6043325"/>
                </a:lnTo>
                <a:lnTo>
                  <a:pt x="0" y="456810"/>
                </a:lnTo>
                <a:lnTo>
                  <a:pt x="44389" y="461284"/>
                </a:lnTo>
                <a:cubicBezTo>
                  <a:pt x="269539" y="461284"/>
                  <a:pt x="452059" y="278764"/>
                  <a:pt x="452059" y="53614"/>
                </a:cubicBezTo>
                <a:close/>
              </a:path>
            </a:pathLst>
          </a:custGeom>
          <a:gradFill>
            <a:gsLst>
              <a:gs pos="100000">
                <a:srgbClr val="DADFD9"/>
              </a:gs>
              <a:gs pos="33000">
                <a:srgbClr val="EBEDEA"/>
              </a:gs>
            </a:gsLst>
            <a:lin ang="2700000" scaled="0"/>
          </a:gradFill>
          <a:ln w="12700" cmpd="sng">
            <a:solidFill>
              <a:schemeClr val="accent3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图片 1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5133" y="488720"/>
            <a:ext cx="769030" cy="592812"/>
          </a:xfrm>
          <a:prstGeom prst="rect">
            <a:avLst/>
          </a:prstGeom>
        </p:spPr>
      </p:pic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3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5133" y="488720"/>
            <a:ext cx="769030" cy="592812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3069199-8283-476D-9CE2-CFD59E182C98}"/>
              </a:ext>
            </a:extLst>
          </p:cNvPr>
          <p:cNvSpPr>
            <a:spLocks noGrp="1"/>
          </p:cNvSpPr>
          <p:nvPr/>
        </p:nvSpPr>
        <p:spPr>
          <a:xfrm>
            <a:off x="160022" y="152126"/>
            <a:ext cx="11871959" cy="6500134"/>
          </a:xfrm>
          <a:custGeom>
            <a:avLst/>
            <a:gdLst>
              <a:gd name="connsiteX0" fmla="*/ 446654 w 11871959"/>
              <a:gd name="connsiteY0" fmla="*/ 0 h 6500134"/>
              <a:gd name="connsiteX1" fmla="*/ 11495685 w 11871959"/>
              <a:gd name="connsiteY1" fmla="*/ 0 h 6500134"/>
              <a:gd name="connsiteX2" fmla="*/ 11490280 w 11871959"/>
              <a:gd name="connsiteY2" fmla="*/ 53614 h 6500134"/>
              <a:gd name="connsiteX3" fmla="*/ 11815790 w 11871959"/>
              <a:gd name="connsiteY3" fmla="*/ 453002 h 6500134"/>
              <a:gd name="connsiteX4" fmla="*/ 11871959 w 11871959"/>
              <a:gd name="connsiteY4" fmla="*/ 458664 h 6500134"/>
              <a:gd name="connsiteX5" fmla="*/ 11871959 w 11871959"/>
              <a:gd name="connsiteY5" fmla="*/ 6041470 h 6500134"/>
              <a:gd name="connsiteX6" fmla="*/ 11815790 w 11871959"/>
              <a:gd name="connsiteY6" fmla="*/ 6047133 h 6500134"/>
              <a:gd name="connsiteX7" fmla="*/ 11490280 w 11871959"/>
              <a:gd name="connsiteY7" fmla="*/ 6446520 h 6500134"/>
              <a:gd name="connsiteX8" fmla="*/ 11495685 w 11871959"/>
              <a:gd name="connsiteY8" fmla="*/ 6500134 h 6500134"/>
              <a:gd name="connsiteX9" fmla="*/ 446654 w 11871959"/>
              <a:gd name="connsiteY9" fmla="*/ 6500134 h 6500134"/>
              <a:gd name="connsiteX10" fmla="*/ 452059 w 11871959"/>
              <a:gd name="connsiteY10" fmla="*/ 6446520 h 6500134"/>
              <a:gd name="connsiteX11" fmla="*/ 44389 w 11871959"/>
              <a:gd name="connsiteY11" fmla="*/ 6038850 h 6500134"/>
              <a:gd name="connsiteX12" fmla="*/ 0 w 11871959"/>
              <a:gd name="connsiteY12" fmla="*/ 6043325 h 6500134"/>
              <a:gd name="connsiteX13" fmla="*/ 0 w 11871959"/>
              <a:gd name="connsiteY13" fmla="*/ 456810 h 6500134"/>
              <a:gd name="connsiteX14" fmla="*/ 44389 w 11871959"/>
              <a:gd name="connsiteY14" fmla="*/ 461284 h 6500134"/>
              <a:gd name="connsiteX15" fmla="*/ 452059 w 11871959"/>
              <a:gd name="connsiteY15" fmla="*/ 53614 h 6500134"/>
            </a:gdLst>
            <a:ahLst/>
            <a:cxnLst/>
            <a:rect l="l" t="t" r="r" b="b"/>
            <a:pathLst>
              <a:path w="11871959" h="6500134">
                <a:moveTo>
                  <a:pt x="446654" y="0"/>
                </a:moveTo>
                <a:lnTo>
                  <a:pt x="11495685" y="0"/>
                </a:lnTo>
                <a:lnTo>
                  <a:pt x="11490280" y="53614"/>
                </a:lnTo>
                <a:cubicBezTo>
                  <a:pt x="11490280" y="250621"/>
                  <a:pt x="11630022" y="414988"/>
                  <a:pt x="11815790" y="453002"/>
                </a:cubicBezTo>
                <a:lnTo>
                  <a:pt x="11871959" y="458664"/>
                </a:lnTo>
                <a:lnTo>
                  <a:pt x="11871959" y="6041470"/>
                </a:lnTo>
                <a:lnTo>
                  <a:pt x="11815790" y="6047133"/>
                </a:lnTo>
                <a:cubicBezTo>
                  <a:pt x="11630022" y="6085146"/>
                  <a:pt x="11490280" y="6249514"/>
                  <a:pt x="11490280" y="6446520"/>
                </a:cubicBezTo>
                <a:lnTo>
                  <a:pt x="11495685" y="6500134"/>
                </a:lnTo>
                <a:lnTo>
                  <a:pt x="446654" y="6500134"/>
                </a:lnTo>
                <a:lnTo>
                  <a:pt x="452059" y="6446520"/>
                </a:lnTo>
                <a:cubicBezTo>
                  <a:pt x="452059" y="6221370"/>
                  <a:pt x="269539" y="6038850"/>
                  <a:pt x="44389" y="6038850"/>
                </a:cubicBezTo>
                <a:lnTo>
                  <a:pt x="0" y="6043325"/>
                </a:lnTo>
                <a:lnTo>
                  <a:pt x="0" y="456810"/>
                </a:lnTo>
                <a:lnTo>
                  <a:pt x="44389" y="461284"/>
                </a:lnTo>
                <a:cubicBezTo>
                  <a:pt x="269539" y="461284"/>
                  <a:pt x="452059" y="278764"/>
                  <a:pt x="452059" y="53614"/>
                </a:cubicBezTo>
                <a:close/>
              </a:path>
            </a:pathLst>
          </a:custGeom>
          <a:noFill/>
          <a:ln w="12700" cmpd="sng">
            <a:solidFill>
              <a:schemeClr val="accent3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D1160242-4850-4B36-B15B-7E74F455D998}"/>
              </a:ext>
            </a:extLst>
          </p:cNvPr>
          <p:cNvSpPr>
            <a:spLocks noGrp="1"/>
          </p:cNvSpPr>
          <p:nvPr/>
        </p:nvSpPr>
        <p:spPr>
          <a:xfrm>
            <a:off x="394180" y="605688"/>
            <a:ext cx="423011" cy="42301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6769BB3-AD8B-4206-90F7-75A18622E2D9}"/>
              </a:ext>
            </a:extLst>
          </p:cNvPr>
          <p:cNvSpPr>
            <a:spLocks noGrp="1"/>
          </p:cNvSpPr>
          <p:nvPr/>
        </p:nvSpPr>
        <p:spPr>
          <a:xfrm>
            <a:off x="605687" y="605686"/>
            <a:ext cx="423011" cy="423011"/>
          </a:xfrm>
          <a:prstGeom prst="ellipse">
            <a:avLst/>
          </a:prstGeom>
          <a:gradFill>
            <a:gsLst>
              <a:gs pos="36000">
                <a:schemeClr val="accent1">
                  <a:alpha val="38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68BD9221-E3EA-4666-B283-E084F89293BA}"/>
              </a:ext>
            </a:extLst>
          </p:cNvPr>
          <p:cNvSpPr>
            <a:spLocks noGrp="1"/>
          </p:cNvSpPr>
          <p:nvPr/>
        </p:nvSpPr>
        <p:spPr>
          <a:xfrm>
            <a:off x="160022" y="152126"/>
            <a:ext cx="11871959" cy="6500134"/>
          </a:xfrm>
          <a:custGeom>
            <a:avLst/>
            <a:gdLst>
              <a:gd name="connsiteX0" fmla="*/ 446654 w 11871959"/>
              <a:gd name="connsiteY0" fmla="*/ 0 h 6500134"/>
              <a:gd name="connsiteX1" fmla="*/ 11495685 w 11871959"/>
              <a:gd name="connsiteY1" fmla="*/ 0 h 6500134"/>
              <a:gd name="connsiteX2" fmla="*/ 11490280 w 11871959"/>
              <a:gd name="connsiteY2" fmla="*/ 53614 h 6500134"/>
              <a:gd name="connsiteX3" fmla="*/ 11815790 w 11871959"/>
              <a:gd name="connsiteY3" fmla="*/ 453002 h 6500134"/>
              <a:gd name="connsiteX4" fmla="*/ 11871959 w 11871959"/>
              <a:gd name="connsiteY4" fmla="*/ 458664 h 6500134"/>
              <a:gd name="connsiteX5" fmla="*/ 11871959 w 11871959"/>
              <a:gd name="connsiteY5" fmla="*/ 6041470 h 6500134"/>
              <a:gd name="connsiteX6" fmla="*/ 11815790 w 11871959"/>
              <a:gd name="connsiteY6" fmla="*/ 6047133 h 6500134"/>
              <a:gd name="connsiteX7" fmla="*/ 11490280 w 11871959"/>
              <a:gd name="connsiteY7" fmla="*/ 6446520 h 6500134"/>
              <a:gd name="connsiteX8" fmla="*/ 11495685 w 11871959"/>
              <a:gd name="connsiteY8" fmla="*/ 6500134 h 6500134"/>
              <a:gd name="connsiteX9" fmla="*/ 446654 w 11871959"/>
              <a:gd name="connsiteY9" fmla="*/ 6500134 h 6500134"/>
              <a:gd name="connsiteX10" fmla="*/ 452059 w 11871959"/>
              <a:gd name="connsiteY10" fmla="*/ 6446520 h 6500134"/>
              <a:gd name="connsiteX11" fmla="*/ 44389 w 11871959"/>
              <a:gd name="connsiteY11" fmla="*/ 6038850 h 6500134"/>
              <a:gd name="connsiteX12" fmla="*/ 0 w 11871959"/>
              <a:gd name="connsiteY12" fmla="*/ 6043325 h 6500134"/>
              <a:gd name="connsiteX13" fmla="*/ 0 w 11871959"/>
              <a:gd name="connsiteY13" fmla="*/ 456810 h 6500134"/>
              <a:gd name="connsiteX14" fmla="*/ 44389 w 11871959"/>
              <a:gd name="connsiteY14" fmla="*/ 461284 h 6500134"/>
              <a:gd name="connsiteX15" fmla="*/ 452059 w 11871959"/>
              <a:gd name="connsiteY15" fmla="*/ 53614 h 6500134"/>
            </a:gdLst>
            <a:ahLst/>
            <a:cxnLst/>
            <a:rect l="l" t="t" r="r" b="b"/>
            <a:pathLst>
              <a:path w="11871959" h="6500134">
                <a:moveTo>
                  <a:pt x="446654" y="0"/>
                </a:moveTo>
                <a:lnTo>
                  <a:pt x="11495685" y="0"/>
                </a:lnTo>
                <a:lnTo>
                  <a:pt x="11490280" y="53614"/>
                </a:lnTo>
                <a:cubicBezTo>
                  <a:pt x="11490280" y="250621"/>
                  <a:pt x="11630022" y="414988"/>
                  <a:pt x="11815790" y="453002"/>
                </a:cubicBezTo>
                <a:lnTo>
                  <a:pt x="11871959" y="458664"/>
                </a:lnTo>
                <a:lnTo>
                  <a:pt x="11871959" y="6041470"/>
                </a:lnTo>
                <a:lnTo>
                  <a:pt x="11815790" y="6047133"/>
                </a:lnTo>
                <a:cubicBezTo>
                  <a:pt x="11630022" y="6085146"/>
                  <a:pt x="11490280" y="6249514"/>
                  <a:pt x="11490280" y="6446520"/>
                </a:cubicBezTo>
                <a:lnTo>
                  <a:pt x="11495685" y="6500134"/>
                </a:lnTo>
                <a:lnTo>
                  <a:pt x="446654" y="6500134"/>
                </a:lnTo>
                <a:lnTo>
                  <a:pt x="452059" y="6446520"/>
                </a:lnTo>
                <a:cubicBezTo>
                  <a:pt x="452059" y="6221370"/>
                  <a:pt x="269539" y="6038850"/>
                  <a:pt x="44389" y="6038850"/>
                </a:cubicBezTo>
                <a:lnTo>
                  <a:pt x="0" y="6043325"/>
                </a:lnTo>
                <a:lnTo>
                  <a:pt x="0" y="456810"/>
                </a:lnTo>
                <a:lnTo>
                  <a:pt x="44389" y="461284"/>
                </a:lnTo>
                <a:cubicBezTo>
                  <a:pt x="269539" y="461284"/>
                  <a:pt x="452059" y="278764"/>
                  <a:pt x="452059" y="53614"/>
                </a:cubicBezTo>
                <a:close/>
              </a:path>
            </a:pathLst>
          </a:custGeom>
          <a:gradFill>
            <a:gsLst>
              <a:gs pos="100000">
                <a:srgbClr val="DADFD9"/>
              </a:gs>
              <a:gs pos="33000">
                <a:srgbClr val="EBEDEA"/>
              </a:gs>
            </a:gsLst>
            <a:lin ang="2700000" scaled="0"/>
          </a:gradFill>
          <a:ln w="12700" cmpd="sng">
            <a:solidFill>
              <a:schemeClr val="accent3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F55A5-BC0B-4975-BFEA-62B86773E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79D2D-63AD-4121-BF49-430274D35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76E08-3813-4B39-9D8A-DE463566E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9466D-E4A3-4A5A-A4DA-F2B148D30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90385-E182-44DB-8589-5F584EED3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FD354-DEC3-4176-9A7E-DDC0B62A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259EA-D34A-4151-862E-FC3AB8B87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3D597F-2552-4A7E-86FF-A1C6084A1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618EA-600B-4B74-9A51-1DCD20FC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C2836-F223-4447-84FE-B309A1E5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2A63F-7CAE-4879-BAC8-F3884042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2A75C-BF34-42B8-B14C-C5AAD1545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F0A60-A87E-4CBE-8AFE-A45D77691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B501E-2946-4497-B34E-05C009D83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B7511-BDE5-4712-8A7B-E6680732F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7F6D8-785B-4D05-9F17-CB1F3D9B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8D0B5B-8D1F-421F-A6C3-6FD818420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6CEBE-C05B-476C-8DCD-E1FCD1402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1B8098-FAA5-4189-AA2B-B3D31E6A1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44A80-3D77-42C6-97C7-490BC2D6E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71900-8D55-4EBE-8A43-F5CE0600F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D7F94-4C8E-420D-B779-2900172F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6C778-9ECA-4F02-A522-E48EC54B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8A6874-8A3E-4727-80E9-6074A1D8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8DE7E-B5FD-4D84-9D80-1AC7570F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E9B6E-BD86-4D53-8DD0-F4FA1BFD9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9F6FB0-9890-4322-819F-401AB1324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E07C6-B461-4480-A227-BC9EFFD4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D7FDF-F74E-4748-89AD-D09E0D1F1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84717-E583-4CD0-B3DF-5DED64238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DFF48-3CCD-4E98-9D3E-83CE935D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82C1F-88D9-47F3-A1B1-DB2F4EB72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C19AD-41D6-4E4A-8232-268FD202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A20BD-9889-4441-9BDB-3330F88D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CDE8F0-5814-41A0-A7AA-6CF65183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EA9BD-97BE-434F-B220-4A5370E6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987B3C-DDF5-4F51-8F6E-26E0713C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9FB41-2FBF-42B2-BC90-E1C06ED25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F341D-6266-4B81-A439-B96F94228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105CE-B0C4-45F4-9E27-20D6DFD8B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010070-078B-4537-A3DE-FDE02FCD5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424A4-0BD8-4C35-8BF2-187E2FF38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92FA9-0A49-44F6-92D7-918984649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8B367-3CD3-4408-B490-C05BAD85D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17AE2B-97B2-493C-A228-2C986889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CF5C1-8751-45F2-A364-7AB74EEB4D57}"/>
              </a:ext>
            </a:extLst>
          </p:cNvPr>
          <p:cNvSpPr>
            <a:spLocks noGrp="1"/>
          </p:cNvSpPr>
          <p:nvPr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sz="100">
                <a:solidFill>
                  <a:schemeClr val="tx1">
                    <a:alpha val="0"/>
                  </a:schemeClr>
                </a:solidFill>
                <a:latin typeface="微软雅黑"/>
                <a:ea typeface="微软雅黑"/>
                <a:cs typeface="微软雅黑"/>
              </a:rPr>
              <a:t>行业PPT模板http://www.1ppt.com/hangye/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60FBB-CCEF-422D-88CD-2D08D153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FC5619-B2F4-487C-9C6A-2DAC2ADCF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gradFill>
          <a:gsLst>
            <a:gs pos="100000">
              <a:srgbClr val="DFE3DF"/>
            </a:gs>
            <a:gs pos="0">
              <a:srgbClr val="EBEDEA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6561873-24EE-4A92-9F2A-A29B516743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 amt="4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图片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5133" y="488720"/>
            <a:ext cx="769030" cy="592812"/>
          </a:xfrm>
          <a:prstGeom prst="rect">
            <a:avLst/>
          </a:prstGeom>
        </p:spPr>
      </p:pic>
    </p:spTree>
  </p:cSld>
  <p:clrMapOvr>
    <a:masterClrMapping/>
  </p:clrMapOvr>
  <p:hf sldNum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0A2B8-6A1D-41C7-BEF2-BF49234D0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093232-A7C0-437A-84D9-13015DA88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58F66D-7444-4F9C-8CEC-357E4E33BA8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>
                <a:solidFill>
                  <a:prstClr val="black"/>
                </a:solidFill>
              </a:rPr>
              <a:t>2026/7/19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5D6AB-99A6-4F42-826F-71D50F929B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657E53-292A-4A82-82A8-F0B247CBBA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>
                <a:solidFill>
                  <a:prstClr val="black"/>
                </a:solidFill>
              </a:rPr>
              <a:t>‹#›</a:t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4B9477-8C40-437F-89D1-75500410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28B349-2BC6-48CE-BCA8-1CF4230AF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F605C-0103-4701-ADB7-345F97FF910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>
                <a:solidFill>
                  <a:prstClr val="black"/>
                </a:solidFill>
              </a:rPr>
              <a:t>2026/7/19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A1F93-62AD-4537-87B8-75B4300F3B5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45C22B-3DF1-4E0E-9ECC-50A1C1375C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>
                <a:solidFill>
                  <a:prstClr val="black"/>
                </a:solidFill>
              </a:rPr>
              <a:t>‹#›</a:t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2C31-027B-4F9C-AEF3-B7215AE26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0A42E-B36F-492C-A03C-BAECA16D7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D10DC-5FFB-4A92-B2B4-1574C5F21B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D93EA-945F-48F8-8D26-89867DB7E3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4A61C-E715-42F8-9023-7004C0B62D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BB3B-B978-46CF-92B3-C0356E4E1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E383F-BE2F-4411-9A91-1B6711F61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A7199-51C6-4436-AA05-00AFC358E14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0B70F-2CC3-4B17-89F5-0D2822F7F6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FFB7D-0411-4425-B240-CDC0A674E6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45AD-245B-4520-99AB-FF1706D3F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B3C2B-FD5D-42B2-9DD8-7EAA9A4C3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D21A1-9BD1-40F8-A7E8-93BD77FC03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4A7B0-B367-4631-B6D7-C4EEF4A800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11E93-5E0C-4E9A-B987-D18CA7EBE1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2A41-A68F-4226-A696-40038F4DE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E68A5-97B9-411B-B2CF-C0A6B60D4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E281C-CE50-4546-8DD4-0650FF5E16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32B61-2475-406A-9C80-7047885BCA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299B6-DF0A-41D2-8AA4-E8272D15FD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3B417-EAE1-4869-97A4-E391A6F577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FA49-8745-41EA-AB9E-EA3BFAC33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22842-0D00-46F4-990C-FCC59C4E1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E4AAE-80FC-4B52-9998-82F07EC3717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F20BE3-27AE-4D8A-969B-AA3035E52D3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483B52-B47E-471A-A8FC-8FB6C1D4E93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928559-67DC-4676-A9AA-A06EFE556E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BF9284-C81A-4285-8A53-258F0D842A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CDBB5-6477-4420-8349-9BEF2B0BB5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A0212-C30E-46E9-B8ED-2AA6A037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93152D-0884-4801-B67A-5B029F5C7A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90A75-A7DF-430C-BB3F-869E89953F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B7FE1-2608-4669-99D0-CC63277E66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271699-B872-4F65-8255-694CAD4C90F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634F7-C6D2-4627-80E7-DBBC257A8C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83C6D-2F24-41B3-B702-58EC0C145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13D8-0DFA-4D8A-8F94-9FE08F11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FA282-7A9E-49E5-8B9D-948D154BE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0B4289-6EF2-4239-8A38-FC8FA98CE14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8BE6C-3870-4561-97A3-4E14206DD1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62316-FEA0-460F-9B95-02AE5E6D14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40F13-6EA7-455E-8A8D-29555486D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7B399-3D80-4D10-B31C-9FB0520A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F1D6A-0473-4F26-97E4-B11647BBA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AE5EB-D9C7-43B4-BE3A-CD9B952529F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7AD23-3819-4A32-94F4-57C372FF7E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E4BAD-9D64-4CB7-89DC-3A14B880D3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102C4-A435-4922-BDCC-A7509ACA0B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2A79-C537-42D9-8FF8-7C3F8D918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976CC-E0DC-44B0-A425-F288A1259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0F5BF-10DD-420B-AC19-7A7F452D8B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96766-DB1F-47F3-81FB-CA1D233530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5323F-C8E2-4677-A176-9189DAD393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B6F38-A73B-4C72-BF0A-BD011672A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52E68-590F-461D-9294-F8D2A9C80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9FD10-4AE8-4BBA-97B5-92662627B7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B53D5-F0C2-4EA1-BB6D-32CD979C12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7C827-A39B-4721-A1AA-9C4AEEBDFF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hf sldNum="0" ftr="0" dt="0"/>
  <p:txStyles>
    <p:titleStyle>
      <a:lvl1pPr algn="l" defTabSz="685800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0A4233-B9E1-49EC-8EC4-23DA940B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57D65-6617-4E57-80BC-7323A57B2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96B42-C47E-48A4-88CB-77EE1808D83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5758D-A3C3-4E88-8AC0-22500507BD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2026/7/19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1A103-91BC-4FC0-A850-96F8E7C2EF2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397D1-B846-4998-87C3-DDB4FAAD239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786F-588D-4932-A7B2-AE3451FA4ACA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" name="图片 53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41082" y="30479"/>
            <a:ext cx="10850917" cy="6858000"/>
          </a:xfrm>
          <a:prstGeom prst="rect">
            <a:avLst/>
          </a:prstGeom>
        </p:spPr>
      </p:pic>
      <p:pic>
        <p:nvPicPr>
          <p:cNvPr id="51" name="图片 44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" y="3626758"/>
            <a:ext cx="12192000" cy="3231242"/>
          </a:xfrm>
          <a:prstGeom prst="rect">
            <a:avLst/>
          </a:prstGeom>
        </p:spPr>
      </p:pic>
      <p:pic>
        <p:nvPicPr>
          <p:cNvPr id="52" name="图片 7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997440" y="4036069"/>
            <a:ext cx="1916227" cy="2816942"/>
          </a:xfrm>
          <a:prstGeom prst="rect">
            <a:avLst/>
          </a:prstGeom>
        </p:spPr>
      </p:pic>
      <p:pic>
        <p:nvPicPr>
          <p:cNvPr id="53" name="图片 6"/>
          <p:cNvPicPr>
            <a:picLocks noChangeAspect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-30479"/>
            <a:ext cx="4523663" cy="4125710"/>
          </a:xfrm>
          <a:prstGeom prst="rect">
            <a:avLst/>
          </a:prstGeom>
        </p:spPr>
      </p:pic>
      <p:pic>
        <p:nvPicPr>
          <p:cNvPr id="54" name="图片 9"/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31097" y="1308736"/>
            <a:ext cx="794164" cy="916035"/>
          </a:xfrm>
          <a:prstGeom prst="rect">
            <a:avLst/>
          </a:prstGeom>
        </p:spPr>
      </p:pic>
      <p:pic>
        <p:nvPicPr>
          <p:cNvPr id="55" name="图片 10"/>
          <p:cNvPicPr>
            <a:picLocks noChangeAspect="1"/>
          </p:cNvPicPr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2599683" y="1308736"/>
            <a:ext cx="851202" cy="793181"/>
          </a:xfrm>
          <a:prstGeom prst="rect">
            <a:avLst/>
          </a:prstGeom>
        </p:spPr>
      </p:pic>
      <p:pic>
        <p:nvPicPr>
          <p:cNvPr id="56" name="图片 11"/>
          <p:cNvPicPr>
            <a:picLocks noChangeAspect="1"/>
          </p:cNvPicPr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619646" y="1524841"/>
            <a:ext cx="1030236" cy="730787"/>
          </a:xfrm>
          <a:prstGeom prst="rect">
            <a:avLst/>
          </a:prstGeom>
        </p:spPr>
      </p:pic>
      <p:pic>
        <p:nvPicPr>
          <p:cNvPr id="57" name="图片 12"/>
          <p:cNvPicPr>
            <a:picLocks noChangeAspect="1"/>
          </p:cNvPicPr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2457469" y="4415139"/>
            <a:ext cx="823543" cy="716517"/>
          </a:xfrm>
          <a:prstGeom prst="rect">
            <a:avLst/>
          </a:prstGeom>
        </p:spPr>
      </p:pic>
      <p:pic>
        <p:nvPicPr>
          <p:cNvPr id="58" name="图片 48"/>
          <p:cNvPicPr>
            <a:picLocks noChangeAspect="1"/>
          </p:cNvPicPr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308336" y="4051151"/>
            <a:ext cx="440781" cy="453191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6B291CDB-AEE2-46D8-9C89-152413B50A1D}"/>
              </a:ext>
            </a:extLst>
          </p:cNvPr>
          <p:cNvSpPr>
            <a:spLocks noGrp="1"/>
          </p:cNvSpPr>
          <p:nvPr/>
        </p:nvSpPr>
        <p:spPr>
          <a:xfrm>
            <a:off x="4523663" y="2374192"/>
            <a:ext cx="1001077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有数之形，无数之意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1BF8A45-1E19-4F07-AC6F-38A96E22C010}"/>
              </a:ext>
            </a:extLst>
          </p:cNvPr>
          <p:cNvSpPr>
            <a:spLocks noGrp="1"/>
          </p:cNvSpPr>
          <p:nvPr/>
        </p:nvSpPr>
        <p:spPr>
          <a:xfrm>
            <a:off x="3174041" y="3845569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隋唐至明清诗词中的数字文化观</a:t>
            </a:r>
          </a:p>
          <a:p>
            <a:r>
              <a:rPr lang="zh-CN" altLang="en-US" dirty="0"/>
              <a:t>北京大学学术演讲</a:t>
            </a:r>
          </a:p>
        </p:txBody>
      </p:sp>
    </p:spTree>
    <p:extLst>
      <p:ext uri="{BB962C8B-B14F-4D97-AF65-F5344CB8AC3E}">
        <p14:creationId xmlns:p14="http://schemas.microsoft.com/office/powerpoint/2010/main" val="74850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D73752F-8FD3-1522-9DEC-CC029660D8E7}"/>
              </a:ext>
            </a:extLst>
          </p:cNvPr>
          <p:cNvSpPr>
            <a:spLocks noGrp="1"/>
          </p:cNvSpPr>
          <p:nvPr/>
        </p:nvSpPr>
        <p:spPr>
          <a:xfrm>
            <a:off x="7854614" y="1713854"/>
            <a:ext cx="2823061" cy="29759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4315C0-19C1-E513-FA64-05C244A5E9E8}"/>
              </a:ext>
            </a:extLst>
          </p:cNvPr>
          <p:cNvSpPr>
            <a:spLocks noGrp="1"/>
          </p:cNvSpPr>
          <p:nvPr/>
        </p:nvSpPr>
        <p:spPr>
          <a:xfrm>
            <a:off x="4616114" y="1715017"/>
            <a:ext cx="2823061" cy="29759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8" name="图片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6649166" y="582599"/>
            <a:ext cx="557862" cy="395714"/>
          </a:xfrm>
          <a:prstGeom prst="rect">
            <a:avLst/>
          </a:prstGeom>
        </p:spPr>
      </p:pic>
      <p:pic>
        <p:nvPicPr>
          <p:cNvPr id="69" name="图片 4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042262" y="4045527"/>
            <a:ext cx="1913188" cy="281247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A6B29F5-608E-4029-9699-1150838C9611}"/>
              </a:ext>
            </a:extLst>
          </p:cNvPr>
          <p:cNvSpPr>
            <a:spLocks noGrp="1"/>
          </p:cNvSpPr>
          <p:nvPr/>
        </p:nvSpPr>
        <p:spPr>
          <a:xfrm>
            <a:off x="1392482" y="1691341"/>
            <a:ext cx="2769270" cy="29995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71" name="图片 3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947219" y="2329049"/>
            <a:ext cx="1428710" cy="1340994"/>
          </a:xfrm>
          <a:ln w="38100">
            <a:solidFill>
              <a:schemeClr val="accent4">
                <a:lumMod val="75000"/>
              </a:schemeClr>
            </a:solidFill>
          </a:ln>
          <a:effectLst>
            <a:outerShdw blurRad="381000" dist="127000" dir="5400000" algn="t" rotWithShape="0">
              <a:schemeClr val="accent2">
                <a:lumMod val="75000"/>
                <a:alpha val="20000"/>
              </a:schemeClr>
            </a:outerShdw>
          </a:effectLst>
        </p:spPr>
      </p:pic>
      <p:pic>
        <p:nvPicPr>
          <p:cNvPr id="72" name="图片 3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161148" y="2329049"/>
            <a:ext cx="1428710" cy="1340994"/>
          </a:xfrm>
          <a:ln w="38100">
            <a:solidFill>
              <a:schemeClr val="accent4">
                <a:lumMod val="75000"/>
              </a:schemeClr>
            </a:solidFill>
          </a:ln>
          <a:effectLst>
            <a:outerShdw blurRad="381000" dist="127000" dir="5400000" algn="t" rotWithShape="0">
              <a:schemeClr val="accent2">
                <a:lumMod val="75000"/>
                <a:alpha val="20000"/>
              </a:schemeClr>
            </a:outerShdw>
          </a:effectLst>
        </p:spPr>
      </p:pic>
      <p:pic>
        <p:nvPicPr>
          <p:cNvPr id="73" name="图片 3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121613" y="2329049"/>
            <a:ext cx="1428710" cy="1340994"/>
          </a:xfrm>
          <a:ln w="38100">
            <a:solidFill>
              <a:schemeClr val="accent4">
                <a:lumMod val="75000"/>
              </a:schemeClr>
            </a:solidFill>
          </a:ln>
          <a:effectLst>
            <a:outerShdw blurRad="381000" dist="127000" dir="5400000" algn="t" rotWithShape="0">
              <a:schemeClr val="accent2">
                <a:lumMod val="75000"/>
                <a:alpha val="20000"/>
              </a:schemeClr>
            </a:outerShdw>
          </a:effectLst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B804E541-2A7E-4D58-8DFA-B7F0BA9C631F}"/>
              </a:ext>
            </a:extLst>
          </p:cNvPr>
          <p:cNvSpPr>
            <a:spLocks noGrp="1"/>
          </p:cNvSpPr>
          <p:nvPr/>
        </p:nvSpPr>
        <p:spPr>
          <a:xfrm>
            <a:off x="1104900" y="514350"/>
            <a:ext cx="1000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同一个“三”，五种文化用法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CCE12D8-4D2C-43CB-9584-B75B0C0A6239}"/>
              </a:ext>
            </a:extLst>
          </p:cNvPr>
          <p:cNvSpPr>
            <a:spLocks noGrp="1"/>
          </p:cNvSpPr>
          <p:nvPr/>
        </p:nvSpPr>
        <p:spPr>
          <a:xfrm>
            <a:off x="1443617" y="203835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实数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2A449B5-583C-4248-B5C4-A3E796BB7BFD}"/>
              </a:ext>
            </a:extLst>
          </p:cNvPr>
          <p:cNvSpPr>
            <a:spLocks noGrp="1"/>
          </p:cNvSpPr>
          <p:nvPr/>
        </p:nvSpPr>
        <p:spPr>
          <a:xfrm>
            <a:off x="1349577" y="2882630"/>
            <a:ext cx="2855079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三男邺城戍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BBA3F10-1AD3-4140-9F5C-8C3EFE0DEB76}"/>
              </a:ext>
            </a:extLst>
          </p:cNvPr>
          <p:cNvSpPr>
            <a:spLocks noGrp="1"/>
          </p:cNvSpPr>
          <p:nvPr/>
        </p:nvSpPr>
        <p:spPr>
          <a:xfrm>
            <a:off x="4688360" y="203835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关系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980788C-822E-4F0D-A60C-F8B81F670502}"/>
              </a:ext>
            </a:extLst>
          </p:cNvPr>
          <p:cNvSpPr>
            <a:spLocks noGrp="1"/>
          </p:cNvSpPr>
          <p:nvPr/>
        </p:nvSpPr>
        <p:spPr>
          <a:xfrm>
            <a:off x="4660002" y="2882630"/>
            <a:ext cx="2823061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对影成三人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B9369D7-B53B-41C2-BEF9-936AD7F883BF}"/>
              </a:ext>
            </a:extLst>
          </p:cNvPr>
          <p:cNvSpPr>
            <a:spLocks noGrp="1"/>
          </p:cNvSpPr>
          <p:nvPr/>
        </p:nvSpPr>
        <p:spPr>
          <a:xfrm>
            <a:off x="7911425" y="2040978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比例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BA3FC53-5E71-4C85-8A4F-50077C4873FC}"/>
              </a:ext>
            </a:extLst>
          </p:cNvPr>
          <p:cNvSpPr>
            <a:spLocks noGrp="1"/>
          </p:cNvSpPr>
          <p:nvPr/>
        </p:nvSpPr>
        <p:spPr>
          <a:xfrm>
            <a:off x="7890883" y="2887885"/>
            <a:ext cx="2786792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天下三分明月夜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B23DCF8-FAC8-403F-BE00-851493CD0E5B}"/>
              </a:ext>
            </a:extLst>
          </p:cNvPr>
          <p:cNvSpPr>
            <a:spLocks noGrp="1"/>
          </p:cNvSpPr>
          <p:nvPr/>
        </p:nvSpPr>
        <p:spPr>
          <a:xfrm>
            <a:off x="1158150" y="5144016"/>
            <a:ext cx="9681406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加上约数的“三杯”和时段的“三更”，“三”在诗词里至少承担五种功能。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F147DD-0BC1-1FC3-C29B-EC8450183487}"/>
              </a:ext>
            </a:extLst>
          </p:cNvPr>
          <p:cNvSpPr>
            <a:spLocks noGrp="1"/>
          </p:cNvSpPr>
          <p:nvPr/>
        </p:nvSpPr>
        <p:spPr>
          <a:xfrm>
            <a:off x="1479557" y="1809188"/>
            <a:ext cx="2595117" cy="27852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7FC066-69E9-B6DA-9C1D-C77646AB061D}"/>
              </a:ext>
            </a:extLst>
          </p:cNvPr>
          <p:cNvSpPr>
            <a:spLocks noGrp="1"/>
          </p:cNvSpPr>
          <p:nvPr/>
        </p:nvSpPr>
        <p:spPr>
          <a:xfrm>
            <a:off x="4711366" y="1809188"/>
            <a:ext cx="2620988" cy="27852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816248-BCF0-F9D9-1CBE-0D2F4D71F5D2}"/>
              </a:ext>
            </a:extLst>
          </p:cNvPr>
          <p:cNvSpPr>
            <a:spLocks noGrp="1"/>
          </p:cNvSpPr>
          <p:nvPr/>
        </p:nvSpPr>
        <p:spPr>
          <a:xfrm>
            <a:off x="7958880" y="1809188"/>
            <a:ext cx="2595117" cy="278524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2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29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7080093" y="590930"/>
            <a:ext cx="557862" cy="39571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本节路线：数字怎样进入诗词经验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78240" y="987552"/>
            <a:ext cx="2176272" cy="34747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466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断代：唐—宋—元—明—清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160520" y="2148840"/>
            <a:ext cx="932688" cy="640080"/>
          </a:xfrm>
          <a:prstGeom prst="line">
            <a:avLst/>
          </a:prstGeom>
          <a:ln w="22860">
            <a:solidFill>
              <a:srgbClr val="647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160520" y="3703320"/>
            <a:ext cx="932688" cy="758952"/>
          </a:xfrm>
          <a:prstGeom prst="line">
            <a:avLst/>
          </a:prstGeom>
          <a:ln w="22860">
            <a:solidFill>
              <a:srgbClr val="647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7104888" y="2148840"/>
            <a:ext cx="896112" cy="640080"/>
          </a:xfrm>
          <a:prstGeom prst="line">
            <a:avLst/>
          </a:prstGeom>
          <a:ln w="22860">
            <a:solidFill>
              <a:srgbClr val="647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7104888" y="3703320"/>
            <a:ext cx="896112" cy="758952"/>
          </a:xfrm>
          <a:prstGeom prst="line">
            <a:avLst/>
          </a:prstGeom>
          <a:ln w="22860">
            <a:solidFill>
              <a:srgbClr val="647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983480" y="2157984"/>
            <a:ext cx="2194560" cy="2194560"/>
          </a:xfrm>
          <a:prstGeom prst="ellipse">
            <a:avLst/>
          </a:prstGeom>
          <a:solidFill>
            <a:srgbClr val="466250"/>
          </a:solidFill>
          <a:ln w="15240">
            <a:solidFill>
              <a:srgbClr val="EF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36576" rIns="45720" bIns="36576" rtlCol="0" anchor="ctr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数字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35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文化观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" y="1417320"/>
            <a:ext cx="3547872" cy="1481328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86968" y="1591056"/>
            <a:ext cx="30175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01  证词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" y="2020824"/>
            <a:ext cx="3035808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把历史落实为可核对的生活事实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" y="2441448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《石壕吏》｜《卖炭翁》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3749039"/>
            <a:ext cx="3547872" cy="1481328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86968" y="3922776"/>
            <a:ext cx="30175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02  尺度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6968" y="4352544"/>
            <a:ext cx="3035808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安排远近、大小与疏密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6968" y="4773168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《江雪》｜《凉州词》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73568" y="1417320"/>
            <a:ext cx="3547872" cy="1481328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02168" y="1591056"/>
            <a:ext cx="30175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03  关系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02168" y="2020824"/>
            <a:ext cx="3035808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组织人与人、人与月影的联结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02168" y="2441448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《月下独酌》｜《画堂春》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973568" y="3749039"/>
            <a:ext cx="3547872" cy="1481328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02168" y="3922776"/>
            <a:ext cx="30175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A2483B"/>
                </a:solidFill>
                <a:latin typeface="Kaiti SC"/>
                <a:ea typeface="Kaiti SC"/>
                <a:cs typeface="Kaiti SC"/>
              </a:rPr>
              <a:t>04  造境·编码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02168" y="4352544"/>
            <a:ext cx="3035808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标定感受范围，唤醒文化记忆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02168" y="4773168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《声声慢》｜《水仙子》｜《破阵子》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29968" y="5806440"/>
            <a:ext cx="81381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这张图也是后面八页的讲述顺序：先问数字记录了什么，再看它怎样安排空间、关系与文化记忆。</a:t>
            </a:r>
          </a:p>
        </p:txBody>
      </p:sp>
    </p:spTree>
    <p:extLst>
      <p:ext uri="{BB962C8B-B14F-4D97-AF65-F5344CB8AC3E}">
        <p14:creationId xmlns:p14="http://schemas.microsoft.com/office/powerpoint/2010/main" val="112742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15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7426933" y="568526"/>
            <a:ext cx="557862" cy="395714"/>
          </a:xfrm>
          <a:prstGeom prst="rect">
            <a:avLst/>
          </a:prstGeom>
        </p:spPr>
      </p:pic>
      <p:pic>
        <p:nvPicPr>
          <p:cNvPr id="5" name="图片 4" descr="男人的脸被修图上了帽子&#10;&#10;AI 生成的内容可能不正确。">
            <a:extLst>
              <a:ext uri="{FF2B5EF4-FFF2-40B4-BE49-F238E27FC236}">
                <a16:creationId xmlns:a16="http://schemas.microsoft.com/office/drawing/2014/main" id="{BE0670E9-8A84-9C1B-9D80-8A871844B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594" y="1287946"/>
            <a:ext cx="3314700" cy="4572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数字作证：一户人家与一车炭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1417320"/>
            <a:ext cx="5532120" cy="1947672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68680" y="1618488"/>
            <a:ext cx="1554480" cy="34747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466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战争中的家庭账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78608" y="1627632"/>
            <a:ext cx="20116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杜甫《石壕吏》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2011680"/>
            <a:ext cx="5010912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“三男邺城戍。一男附书至，二男新战死。”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" y="2660904"/>
            <a:ext cx="49377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A2483B"/>
                </a:solidFill>
                <a:latin typeface="Kaiti SC"/>
                <a:ea typeface="Kaiti SC"/>
                <a:cs typeface="Kaiti SC"/>
              </a:rPr>
              <a:t>3个儿子  →  1封家书  →  2人战死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" y="3054096"/>
            <a:ext cx="5029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数目把战乱落实到一户家庭，损失由此获得可核对的分量。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3575304"/>
            <a:ext cx="5532120" cy="2221992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868680" y="3776472"/>
            <a:ext cx="1554480" cy="34747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466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宫市中的交换账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78608" y="3785615"/>
            <a:ext cx="21945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白居易《卖炭翁》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4160520"/>
            <a:ext cx="493776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“一车炭，千余斤……半匹红纱一丈绫，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系向牛头充炭直。”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" y="4937760"/>
            <a:ext cx="491947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2483B"/>
                </a:solidFill>
                <a:latin typeface="Kaiti SC"/>
                <a:ea typeface="Kaiti SC"/>
                <a:cs typeface="Kaiti SC"/>
              </a:rPr>
              <a:t>千余斤炭  ↔  半匹红纱＋一丈绫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2" y="5358384"/>
            <a:ext cx="496519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“宫市”的强制交换，被写成一眼可见的不等式。</a:t>
            </a:r>
          </a:p>
        </p:txBody>
      </p:sp>
    </p:spTree>
    <p:extLst>
      <p:ext uri="{BB962C8B-B14F-4D97-AF65-F5344CB8AC3E}">
        <p14:creationId xmlns:p14="http://schemas.microsoft.com/office/powerpoint/2010/main" val="19187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7050994" y="603001"/>
            <a:ext cx="557862" cy="395714"/>
          </a:xfrm>
          <a:prstGeom prst="rect">
            <a:avLst/>
          </a:prstGeom>
        </p:spPr>
      </p:pic>
      <p:pic>
        <p:nvPicPr>
          <p:cNvPr id="3" name="图片 2" descr="墙上挂着一幅画&#10;&#10;AI 生成的内容可能不正确。">
            <a:extLst>
              <a:ext uri="{FF2B5EF4-FFF2-40B4-BE49-F238E27FC236}">
                <a16:creationId xmlns:a16="http://schemas.microsoft.com/office/drawing/2014/main" id="{47A03368-A812-5482-095C-A68EBF0711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548" y="1244564"/>
            <a:ext cx="2649600" cy="486165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数字伸缩：大尺度怎样托出小主体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25112" y="1389888"/>
            <a:ext cx="7150608" cy="2496312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4553712" y="1591056"/>
            <a:ext cx="1517904" cy="34747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466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柳宗元《江雪》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45152" y="2112264"/>
            <a:ext cx="1901952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千山 / 万径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2057400"/>
            <a:ext cx="530352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A895B"/>
                </a:solidFill>
                <a:latin typeface="Kaiti SC"/>
                <a:ea typeface="Kaiti SC"/>
                <a:cs typeface="Kaiti SC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2360" y="2112264"/>
            <a:ext cx="1901952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A2483B"/>
                </a:solidFill>
                <a:latin typeface="Kaiti SC"/>
                <a:ea typeface="Kaiti SC"/>
                <a:cs typeface="Kaiti SC"/>
              </a:rPr>
              <a:t>孤舟 / 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90288" y="2660904"/>
            <a:ext cx="6327648" cy="7863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“千山鸟飞绝，万径人踪灭。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孤舟蓑笠翁，独钓寒江雪。”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5152" y="3456432"/>
            <a:ext cx="6217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视野从千山万径收束到一叶孤舟，数字完成一次由全景到特写的推进。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25112" y="4096512"/>
            <a:ext cx="7150608" cy="1490472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553712" y="4288536"/>
            <a:ext cx="1517904" cy="34747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466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王之涣《凉州词》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72784" y="4279392"/>
            <a:ext cx="478231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“黄河远上白云间，一片孤城万仞山。”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90288" y="4855464"/>
            <a:ext cx="28346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2483B"/>
                </a:solidFill>
                <a:latin typeface="Kaiti SC"/>
                <a:ea typeface="Kaiti SC"/>
                <a:cs typeface="Kaiti SC"/>
              </a:rPr>
              <a:t>一片孤城  ↔  万仞山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26679" y="4892040"/>
            <a:ext cx="315468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以极大的山体，反衬极小的城。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92040" y="5715000"/>
            <a:ext cx="608076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大数扩张环境，小数压缩主体；二者共同制造苍茫。</a:t>
            </a:r>
          </a:p>
        </p:txBody>
      </p:sp>
    </p:spTree>
    <p:extLst>
      <p:ext uri="{BB962C8B-B14F-4D97-AF65-F5344CB8AC3E}">
        <p14:creationId xmlns:p14="http://schemas.microsoft.com/office/powerpoint/2010/main" val="36313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8179212" y="572860"/>
            <a:ext cx="557862" cy="395714"/>
          </a:xfrm>
          <a:prstGeom prst="rect">
            <a:avLst/>
          </a:prstGeom>
        </p:spPr>
      </p:pic>
      <p:pic>
        <p:nvPicPr>
          <p:cNvPr id="39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16" y="1423785"/>
            <a:ext cx="4235402" cy="423540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数字分情：同一个“3＝2＋1”，三种情感判断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1298448"/>
            <a:ext cx="3794760" cy="5852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3 ＝ 2 ＋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2011680"/>
            <a:ext cx="6903720" cy="98755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800600" y="2249424"/>
            <a:ext cx="475488" cy="475488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2121408"/>
            <a:ext cx="19202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徐凝《忆扬州》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0680" y="2404872"/>
            <a:ext cx="443484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“天下三分明月夜，二分无赖是扬州。”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02368" y="2240280"/>
            <a:ext cx="144475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赞美集中到一座城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17720" y="3209544"/>
            <a:ext cx="6903720" cy="98755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800600" y="3447288"/>
            <a:ext cx="475488" cy="475488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0680" y="3319272"/>
            <a:ext cx="19202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叶清臣《贺圣朝》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3602736"/>
            <a:ext cx="443484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“三分春色二分愁，更一分风雨。”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2368" y="3438144"/>
            <a:ext cx="144475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二愁＋一风雨＝满眼离愁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17720" y="4407408"/>
            <a:ext cx="6903720" cy="98755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800600" y="4645152"/>
            <a:ext cx="475488" cy="475488"/>
          </a:xfrm>
          <a:prstGeom prst="ellipse">
            <a:avLst/>
          </a:prstGeom>
          <a:solidFill>
            <a:srgbClr val="A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4517136"/>
            <a:ext cx="19202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苏轼《水龙吟》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40680" y="4800600"/>
            <a:ext cx="443484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“春色三分，二分尘土，一分流水。”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02368" y="4636008"/>
            <a:ext cx="144475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70" b="1">
                <a:solidFill>
                  <a:srgbClr val="A2483B"/>
                </a:solidFill>
                <a:latin typeface="Kaiti SC"/>
                <a:ea typeface="Kaiti SC"/>
                <a:cs typeface="Kaiti SC"/>
              </a:rPr>
              <a:t>春光被分配给消逝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9744" y="5733288"/>
            <a:ext cx="644652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诗人先设整体，再让“二分”“一分”承担偏爱、离愁与消逝。</a:t>
            </a:r>
          </a:p>
        </p:txBody>
      </p:sp>
    </p:spTree>
    <p:extLst>
      <p:ext uri="{BB962C8B-B14F-4D97-AF65-F5344CB8AC3E}">
        <p14:creationId xmlns:p14="http://schemas.microsoft.com/office/powerpoint/2010/main" val="36313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1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8572563" y="640904"/>
            <a:ext cx="557862" cy="3957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0C4B8A2-6908-9F4E-83EE-B000CED17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682496"/>
            <a:ext cx="1572768" cy="413308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数字结缘：李白怎样让“一人”短暂变成“三人”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1097280"/>
            <a:ext cx="28803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李白《月下独酌四首·其一》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54680" y="1572768"/>
            <a:ext cx="8001000" cy="1719072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429000" y="1874519"/>
            <a:ext cx="566928" cy="566928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3087" y="1828800"/>
            <a:ext cx="12344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→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1792224"/>
            <a:ext cx="5166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“举杯邀明月，对影成三人。”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8112" y="2350008"/>
            <a:ext cx="5074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月亮与影子被纳入席间；数字替独酌者临时扩充了关系。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54680" y="3611880"/>
            <a:ext cx="8001000" cy="171907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429000" y="3913632"/>
            <a:ext cx="566928" cy="566928"/>
          </a:xfrm>
          <a:prstGeom prst="ellipse">
            <a:avLst/>
          </a:prstGeom>
          <a:solidFill>
            <a:srgbClr val="A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33087" y="3867912"/>
            <a:ext cx="1234440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2483B"/>
                </a:solidFill>
                <a:latin typeface="Kaiti SC"/>
                <a:ea typeface="Kaiti SC"/>
                <a:cs typeface="Kaiti SC"/>
              </a:rPr>
              <a:t>→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3831336"/>
            <a:ext cx="51663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“醒时同交欢，醉后各分散。”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4389120"/>
            <a:ext cx="50749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交欢随醉意结束，关系重新收束到孤独的个体。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0440" y="5687568"/>
            <a:ext cx="72694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1 → 3 → 1：短暂的热闹没有取消孤独，反而让孤独更清楚。</a:t>
            </a:r>
          </a:p>
        </p:txBody>
      </p:sp>
    </p:spTree>
    <p:extLst>
      <p:ext uri="{BB962C8B-B14F-4D97-AF65-F5344CB8AC3E}">
        <p14:creationId xmlns:p14="http://schemas.microsoft.com/office/powerpoint/2010/main" val="173202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8996657" y="587325"/>
            <a:ext cx="557862" cy="39571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数字分合：十年、千里、一双人与两处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1417320"/>
            <a:ext cx="5349240" cy="4297680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32688" y="1645920"/>
            <a:ext cx="3246120" cy="34747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466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苏轼《江城子·乙卯正月二十日夜记梦》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2194560"/>
            <a:ext cx="4736592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十年  ·  千里  ·  两茫茫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2862072"/>
            <a:ext cx="4526280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“十年生死两茫茫。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千里孤坟，无处话凄凉。”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16736" y="3931920"/>
            <a:ext cx="4069080" cy="18288"/>
          </a:xfrm>
          <a:prstGeom prst="rect">
            <a:avLst/>
          </a:prstGeom>
          <a:solidFill>
            <a:srgbClr val="A7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261872" y="4160520"/>
            <a:ext cx="4187952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十年：拉开时间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千里：拉开空间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两茫茫：把生者与亡者置于对称位置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81344" y="1417320"/>
            <a:ext cx="5285232" cy="4297680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400800" y="1645920"/>
            <a:ext cx="1938528" cy="34747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466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纳兰性德《画堂春》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2194560"/>
            <a:ext cx="461772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一生  ·  一双  ·  两处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256" y="2862072"/>
            <a:ext cx="4407408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“一生一代一双人，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争教两处销魂。”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39712" y="3931920"/>
            <a:ext cx="3913632" cy="18288"/>
          </a:xfrm>
          <a:prstGeom prst="rect">
            <a:avLst/>
          </a:prstGeom>
          <a:solidFill>
            <a:srgbClr val="A7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84848" y="4160520"/>
            <a:ext cx="4041648" cy="10789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一生一代：共同的时间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一双：形成关系单位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8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两处：空间将关系重新拆开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44368" y="5925312"/>
            <a:ext cx="6291072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数字把时间、空间和关系放在同一张情感坐标图上。</a:t>
            </a:r>
          </a:p>
        </p:txBody>
      </p:sp>
    </p:spTree>
    <p:extLst>
      <p:ext uri="{BB962C8B-B14F-4D97-AF65-F5344CB8AC3E}">
        <p14:creationId xmlns:p14="http://schemas.microsoft.com/office/powerpoint/2010/main" val="310519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15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8520009" y="568527"/>
            <a:ext cx="557862" cy="395714"/>
          </a:xfrm>
          <a:prstGeom prst="rect">
            <a:avLst/>
          </a:prstGeom>
        </p:spPr>
      </p:pic>
      <p:pic>
        <p:nvPicPr>
          <p:cNvPr id="52" name="图片 48"/>
          <p:cNvPicPr>
            <a:picLocks noChangeAspect="1"/>
          </p:cNvPicPr>
          <p:nvPr/>
        </p:nvPicPr>
        <p:blipFill>
          <a:blip r:embed="rId4"/>
          <a:srcRect l="16667" r="16667"/>
          <a:stretch>
            <a:fillRect/>
          </a:stretch>
        </p:blipFill>
        <p:spPr>
          <a:xfrm>
            <a:off x="7635240" y="1261872"/>
            <a:ext cx="3877056" cy="4983480"/>
          </a:xfrm>
          <a:prstGeom prst="round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数字造境：几杯、几更与十年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1417320"/>
            <a:ext cx="6537960" cy="1252728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68680" y="1755648"/>
            <a:ext cx="530352" cy="530352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81912" y="1527048"/>
            <a:ext cx="144475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三杯两盏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71800" y="1545336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李清照《声声慢》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81912" y="1874519"/>
            <a:ext cx="5257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“三杯两盏淡酒，怎敌他、晚来风急？”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81912" y="2249424"/>
            <a:ext cx="5257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小数量限定了酒意，也限定了抵御风寒的力量。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" y="2898648"/>
            <a:ext cx="6537960" cy="1252728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68680" y="3236976"/>
            <a:ext cx="530352" cy="530352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81912" y="3008376"/>
            <a:ext cx="144475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三更之后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1800" y="3026664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徐再思《水仙子·夜雨》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81912" y="3355848"/>
            <a:ext cx="5257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“三更归梦三更后。”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81912" y="3730752"/>
            <a:ext cx="5257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更次给夜晚一个坐标；重复的“三更”延长了难眠。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" y="4379976"/>
            <a:ext cx="6537960" cy="1252728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868680" y="4718304"/>
            <a:ext cx="530352" cy="530352"/>
          </a:xfrm>
          <a:prstGeom prst="ellipse">
            <a:avLst/>
          </a:prstGeom>
          <a:solidFill>
            <a:srgbClr val="A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积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81912" y="4489704"/>
            <a:ext cx="1444752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枕上十年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71800" y="4507992"/>
            <a:ext cx="1965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徐再思《水仙子·夜雨》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81912" y="4837176"/>
            <a:ext cx="52578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“枕上十年事，江南二老忧。”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81912" y="5212080"/>
            <a:ext cx="5257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十年往事被压进一枕，时间在瞬间涌回。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" y="5888736"/>
            <a:ext cx="5925312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这些数目无需精确计量；它们标出感受的分量、时刻与跨度。</a:t>
            </a:r>
          </a:p>
        </p:txBody>
      </p:sp>
    </p:spTree>
    <p:extLst>
      <p:ext uri="{BB962C8B-B14F-4D97-AF65-F5344CB8AC3E}">
        <p14:creationId xmlns:p14="http://schemas.microsoft.com/office/powerpoint/2010/main" val="54716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8982463" y="620205"/>
            <a:ext cx="557862" cy="39571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量词构图：十个“一”怎样点出一幅秋江图</a:t>
            </a:r>
          </a:p>
        </p:txBody>
      </p:sp>
      <p:pic>
        <p:nvPicPr>
          <p:cNvPr id="33" name="Picture 32" descr="寒江独钓图_朱端_公版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1216152"/>
            <a:ext cx="3246120" cy="504748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48640" y="5916168"/>
            <a:ext cx="3127248" cy="30175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72" y="5989320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朱端《寒江独钓图》｜公共领域馆藏图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05072" y="1325880"/>
            <a:ext cx="7516368" cy="1481328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97680" y="1572768"/>
            <a:ext cx="6931152" cy="7498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“一蓑一笠一鱼钩，一个渔翁一叶舟。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一橹一帆兼一桨，一人独钓一江秋。”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2395728"/>
            <a:ext cx="28803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——钱福《题秋江独钓图》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33087" y="3054096"/>
            <a:ext cx="1737360" cy="347472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24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2483B"/>
                </a:solidFill>
                <a:latin typeface="Kaiti SC"/>
                <a:ea typeface="Kaiti SC"/>
                <a:cs typeface="Kaiti SC"/>
              </a:rPr>
              <a:t>全诗出现10个“一”</a:t>
            </a:r>
          </a:p>
        </p:txBody>
      </p:sp>
      <p:sp>
        <p:nvSpPr>
          <p:cNvPr id="40" name="Oval 39"/>
          <p:cNvSpPr/>
          <p:nvPr/>
        </p:nvSpPr>
        <p:spPr>
          <a:xfrm>
            <a:off x="4187952" y="3639312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3168" y="3602736"/>
            <a:ext cx="6858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点物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566160"/>
            <a:ext cx="33375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蓑 · 笠 · 钩 · 橹 · 帆 · 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593591"/>
            <a:ext cx="20574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器物逐件入画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36592" y="4160520"/>
            <a:ext cx="6327648" cy="9144"/>
          </a:xfrm>
          <a:prstGeom prst="rect">
            <a:avLst/>
          </a:prstGeom>
          <a:solidFill>
            <a:srgbClr val="A7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187952" y="4389120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3168" y="4352544"/>
            <a:ext cx="6858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定人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4315968"/>
            <a:ext cx="33375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一个渔翁 · 一人独钓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0848" y="4343400"/>
            <a:ext cx="20574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人物成为视觉中心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36592" y="4910328"/>
            <a:ext cx="6327648" cy="9144"/>
          </a:xfrm>
          <a:prstGeom prst="rect">
            <a:avLst/>
          </a:prstGeom>
          <a:solidFill>
            <a:srgbClr val="A7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187952" y="5138927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3168" y="5102351"/>
            <a:ext cx="685800" cy="3017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收境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2120" y="5065775"/>
            <a:ext cx="33375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一叶舟 · 一江秋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0848" y="5093207"/>
            <a:ext cx="20574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镜头由舟推向整条秋江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69080" y="5806440"/>
            <a:ext cx="7360920" cy="457200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279392" y="5879592"/>
            <a:ext cx="693115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旁证：徐再思“一声梧叶一声秋，一点芭蕉一点愁”——声音与景物也被切成可感的单位。</a:t>
            </a:r>
          </a:p>
        </p:txBody>
      </p:sp>
    </p:spTree>
    <p:extLst>
      <p:ext uri="{BB962C8B-B14F-4D97-AF65-F5344CB8AC3E}">
        <p14:creationId xmlns:p14="http://schemas.microsoft.com/office/powerpoint/2010/main" val="10759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9646920" y="576072"/>
            <a:ext cx="557784" cy="393192"/>
          </a:xfrm>
          <a:prstGeom prst="rect">
            <a:avLst/>
          </a:prstGeom>
        </p:spPr>
      </p:pic>
      <p:pic>
        <p:nvPicPr>
          <p:cNvPr id="5" name="图片 4" descr="狗们站在一起&#10;&#10;AI 生成的内容可能不正确。">
            <a:extLst>
              <a:ext uri="{FF2B5EF4-FFF2-40B4-BE49-F238E27FC236}">
                <a16:creationId xmlns:a16="http://schemas.microsoft.com/office/drawing/2014/main" id="{36AC2265-FA2E-15FA-AF5E-3F68F08B1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697480"/>
            <a:ext cx="3977639" cy="1554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数字的文化编码：一个数字，唤醒一整段历史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1444752"/>
            <a:ext cx="379476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“八百里分麾下炙，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五十弦翻塞外声。”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2103120"/>
            <a:ext cx="36576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辛弃疾《破阵子·为陈同甫赋壮词以寄之》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4498848"/>
            <a:ext cx="3675887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“八百里”源于《世说新语》中王恺的名牛“八百里驳”；词中借指牛肉。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18304" y="1335024"/>
            <a:ext cx="6711696" cy="731520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01184" y="1463040"/>
            <a:ext cx="9601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五陵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6752" y="1426464"/>
            <a:ext cx="21031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汉代五帝陵附近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16752" y="1719072"/>
            <a:ext cx="20574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豪贵子弟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1444752"/>
            <a:ext cx="2907792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“五陵年少争缠头”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1312" y="1773936"/>
            <a:ext cx="2907792" cy="1737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白居易《琵琶行》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18304" y="2231136"/>
            <a:ext cx="6711696" cy="731520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01184" y="2359152"/>
            <a:ext cx="9601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六朝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16752" y="2322576"/>
            <a:ext cx="21031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建都金陵的六个朝代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16752" y="2615184"/>
            <a:ext cx="20574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兴亡记忆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2340864"/>
            <a:ext cx="2907792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“六朝旧事随流水”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11312" y="2670048"/>
            <a:ext cx="2907792" cy="1737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王安石《桂枝香·金陵怀古》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18304" y="3127248"/>
            <a:ext cx="6711696" cy="731520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01184" y="3255264"/>
            <a:ext cx="9601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九重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16752" y="3218688"/>
            <a:ext cx="21031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重重宫门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16752" y="3511296"/>
            <a:ext cx="20574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帝王宫禁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3236976"/>
            <a:ext cx="2907792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“九重城阙烟尘生”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566160"/>
            <a:ext cx="2907792" cy="1737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白居易《长恨歌》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18304" y="4023360"/>
            <a:ext cx="6711696" cy="731520"/>
          </a:xfrm>
          <a:prstGeom prst="roundRect">
            <a:avLst/>
          </a:prstGeom>
          <a:solidFill>
            <a:srgbClr val="E8EDE8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01184" y="4151376"/>
            <a:ext cx="9601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九州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16752" y="4114800"/>
            <a:ext cx="21031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古代中国的整体称谓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16752" y="4407408"/>
            <a:ext cx="20574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天下共同体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11312" y="4133088"/>
            <a:ext cx="2907792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“九州生气恃风雷”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11312" y="4462272"/>
            <a:ext cx="2907792" cy="1737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龚自珍《己亥杂诗》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18304" y="4919472"/>
            <a:ext cx="6711696" cy="731520"/>
          </a:xfrm>
          <a:prstGeom prst="roundRect">
            <a:avLst/>
          </a:prstGeom>
          <a:solidFill>
            <a:srgbClr val="F6F6F1"/>
          </a:solidFill>
          <a:ln w="10160">
            <a:solidFill>
              <a:srgbClr val="A7B3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901184" y="5047488"/>
            <a:ext cx="9601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>
                <a:solidFill>
                  <a:srgbClr val="A2483B"/>
                </a:solidFill>
                <a:latin typeface="Kaiti SC"/>
                <a:ea typeface="Kaiti SC"/>
                <a:cs typeface="Kaiti SC"/>
              </a:rPr>
              <a:t>八百里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16752" y="5010912"/>
            <a:ext cx="21031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名牛“八百里驳”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16752" y="5303520"/>
            <a:ext cx="20574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军中豪情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11312" y="5029200"/>
            <a:ext cx="2907792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“八百里分麾下炙”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1312" y="5358383"/>
            <a:ext cx="2907792" cy="1737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辛弃疾《破阵子》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96128" y="5934456"/>
            <a:ext cx="4956048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66250"/>
                </a:solidFill>
                <a:latin typeface="Kaiti SC"/>
                <a:ea typeface="Kaiti SC"/>
                <a:cs typeface="Kaiti SC"/>
              </a:rPr>
              <a:t>数字借典故携带地理、制度与历史记忆。</a:t>
            </a:r>
          </a:p>
        </p:txBody>
      </p:sp>
    </p:spTree>
    <p:extLst>
      <p:ext uri="{BB962C8B-B14F-4D97-AF65-F5344CB8AC3E}">
        <p14:creationId xmlns:p14="http://schemas.microsoft.com/office/powerpoint/2010/main" val="36313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29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7080093" y="590930"/>
            <a:ext cx="557862" cy="39571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数字诗句素材库 ①｜唐代（10则）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9904" y="1325880"/>
            <a:ext cx="13716" cy="4956048"/>
          </a:xfrm>
          <a:prstGeom prst="rect">
            <a:avLst/>
          </a:prstGeom>
          <a:solidFill>
            <a:srgbClr val="A7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40080" y="1472184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07007" y="1325880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三男邺城戍，二男新战死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07007" y="1828800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杜甫《石壕吏》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07007" y="2139696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40080" y="2459736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07007" y="2313432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千山鸟飞绝，万径人踪灭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07007" y="2816351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柳宗元《江雪》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07007" y="3127248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07007" y="3300984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举杯邀明月，对影成三人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07007" y="3803904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李白《月下独酌四首·其一》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07007" y="4114800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40080" y="4434840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07007" y="4288536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飞流直下三千尺，疑是银河落九天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07007" y="4791456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李白《望庐山瀑布》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07007" y="5102352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40080" y="5422392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07007" y="5276088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烽火连三月，家书抵万金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07007" y="5779008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杜甫《春望》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07007" y="6089904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336792" y="1472184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1325880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两个黄鹂鸣翠柳，一行白鹭上青天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03720" y="1828800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杜甫《绝句》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03720" y="2139696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336792" y="2459736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2313432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千里莺啼绿映红，水村山郭酒旗风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3720" y="2816351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杜牧《江南春》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03720" y="3127248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336792" y="3447288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03720" y="3300984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黄沙百战穿金甲，不破楼兰终不还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03720" y="3803904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王昌龄《从军行七首·其四》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03720" y="4114800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336792" y="4434840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03720" y="4288536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九曲黄河万里沙，浪淘风簸自天涯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03720" y="4791456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刘禹锡《浪淘沙九首·其一》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903720" y="5102352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6336792" y="5422392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03720" y="5276088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天下三分明月夜，二分无赖是扬州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03720" y="5779008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徐凝《忆扬州》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03720" y="6089904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3030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9DAC0-0EDB-B24D-D1CC-9BA830A9B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29">
            <a:extLst>
              <a:ext uri="{FF2B5EF4-FFF2-40B4-BE49-F238E27FC236}">
                <a16:creationId xmlns:a16="http://schemas.microsoft.com/office/drawing/2014/main" id="{B9E77762-DAE3-30B1-68D9-8395C0F463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7080093" y="590930"/>
            <a:ext cx="557862" cy="39571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数字诗句素材库 ②｜宋代（10则）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9904" y="1325880"/>
            <a:ext cx="13716" cy="4956048"/>
          </a:xfrm>
          <a:prstGeom prst="rect">
            <a:avLst/>
          </a:prstGeom>
          <a:solidFill>
            <a:srgbClr val="A7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40080" y="1472184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07007" y="1325880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三杯两盏淡酒，怎敌他、晚来风急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07007" y="1828800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李清照《声声慢》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07007" y="2139696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40080" y="2459736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07007" y="2313432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七八个星天外，两三点雨山前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07007" y="2816351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辛弃疾《西江月》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07007" y="3127248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07007" y="3300984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三秋桂子，十里荷花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07007" y="3803904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柳永《望海潮》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07007" y="4114800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40080" y="4434840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07007" y="4288536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池上碧苔三四点，叶底黄鹂一两声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07007" y="4791456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晏殊《破阵子》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07007" y="5102352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40080" y="5422392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07007" y="5276088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两情若是久长时，又岂在朝朝暮暮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07007" y="5779008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秦观《鹊桥仙》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07007" y="6089904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336792" y="1472184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1325880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一川烟草，满城风絮，梅子黄时雨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03720" y="1828800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贺铸《青玉案》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03720" y="2139696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336792" y="2459736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2313432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三分春色二分愁，更一分风雨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3720" y="2816351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叶清臣《贺圣朝》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03720" y="3127248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336792" y="3447288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03720" y="3300984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三十功名尘与土，八千里路云和月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03720" y="3803904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岳飞《满江红》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03720" y="4114800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336792" y="4434840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03720" y="4288536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春色三分，二分尘土，一分流水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03720" y="4791456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苏轼《水龙吟》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903720" y="5102352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6336792" y="5422392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03720" y="5276088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京口瓜洲一水间，钟山只隔数重山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03720" y="5779008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王安石《泊船瓜洲》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03720" y="6089904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1398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A217-95DA-6819-3766-5C456EDC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29">
            <a:extLst>
              <a:ext uri="{FF2B5EF4-FFF2-40B4-BE49-F238E27FC236}">
                <a16:creationId xmlns:a16="http://schemas.microsoft.com/office/drawing/2014/main" id="{00CE1363-9F28-51A0-0725-BB25882876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7080093" y="590930"/>
            <a:ext cx="557862" cy="39571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7280" y="475488"/>
            <a:ext cx="1001268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数字诗句素材库 ③｜元明清（10则）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9904" y="1325880"/>
            <a:ext cx="13716" cy="4956048"/>
          </a:xfrm>
          <a:prstGeom prst="rect">
            <a:avLst/>
          </a:prstGeom>
          <a:solidFill>
            <a:srgbClr val="A7B3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40080" y="1472184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07007" y="1325880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一声梧叶一声秋，一点芭蕉一点愁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07007" y="1828800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徐再思《水仙子》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07007" y="2139696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40080" y="2459736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07007" y="2313432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夕阳下，酒旆闲，两三航未曾着岸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07007" y="2816351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马致远《寿阳曲》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07007" y="3127248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07007" y="3300984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一声画角谯门，半庭新月黄昏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07007" y="3803904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白朴《天净沙》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07007" y="4114800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640080" y="4434840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07007" y="4288536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数间茅舍，藏书万卷，投老村家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07007" y="4791456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张可久《人月圆》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07007" y="5102352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40080" y="5422392"/>
            <a:ext cx="420624" cy="420624"/>
          </a:xfrm>
          <a:prstGeom prst="ellipse">
            <a:avLst/>
          </a:prstGeom>
          <a:solidFill>
            <a:srgbClr val="466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07007" y="5276088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一轮飞镜谁磨？照彻乾坤，印透山河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07007" y="5779008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张养浩《折桂令》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207007" y="6089904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6336792" y="1472184"/>
            <a:ext cx="420624" cy="420624"/>
          </a:xfrm>
          <a:prstGeom prst="ellipse">
            <a:avLst/>
          </a:prstGeom>
          <a:solidFill>
            <a:srgbClr val="A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1325880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千锤万凿出深山，烈火焚烧若等闲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03720" y="1828800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于谦《石灰吟》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03720" y="2139696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6336792" y="2459736"/>
            <a:ext cx="420624" cy="420624"/>
          </a:xfrm>
          <a:prstGeom prst="ellipse">
            <a:avLst/>
          </a:prstGeom>
          <a:solidFill>
            <a:srgbClr val="A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2313432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江水三千里，家书十五行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03720" y="2816351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袁凯《京师得家书》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03720" y="3127248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6336792" y="3447288"/>
            <a:ext cx="420624" cy="420624"/>
          </a:xfrm>
          <a:prstGeom prst="ellipse">
            <a:avLst/>
          </a:prstGeom>
          <a:solidFill>
            <a:srgbClr val="A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03720" y="3300984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一生一代一双人，争教两处销魂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03720" y="3803904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纳兰性德《画堂春》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03720" y="4114800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6336792" y="4434840"/>
            <a:ext cx="420624" cy="420624"/>
          </a:xfrm>
          <a:prstGeom prst="ellipse">
            <a:avLst/>
          </a:prstGeom>
          <a:solidFill>
            <a:srgbClr val="A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09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03720" y="4288536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山一程，水一程，身向榆关那畔行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03720" y="4791456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纳兰性德《长相思》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903720" y="5102352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6336792" y="5422392"/>
            <a:ext cx="420624" cy="420624"/>
          </a:xfrm>
          <a:prstGeom prst="ellipse">
            <a:avLst/>
          </a:prstGeom>
          <a:solidFill>
            <a:srgbClr val="A248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Kaiti SC"/>
                <a:ea typeface="Kaiti SC"/>
                <a:cs typeface="Kaiti SC"/>
              </a:rPr>
              <a:t>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03720" y="5276088"/>
            <a:ext cx="4599432" cy="4663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>
                <a:solidFill>
                  <a:srgbClr val="2A332E"/>
                </a:solidFill>
                <a:latin typeface="Kaiti SC"/>
                <a:ea typeface="Kaiti SC"/>
                <a:cs typeface="Kaiti SC"/>
              </a:rPr>
              <a:t>千磨万击还坚劲，任尔东西南北风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03720" y="5779008"/>
            <a:ext cx="452628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5C6860"/>
                </a:solidFill>
                <a:latin typeface="Kaiti SC"/>
                <a:ea typeface="Kaiti SC"/>
                <a:cs typeface="Kaiti SC"/>
              </a:rPr>
              <a:t>郑燮《竹石》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903720" y="6089904"/>
            <a:ext cx="4443984" cy="9144"/>
          </a:xfrm>
          <a:prstGeom prst="rect">
            <a:avLst/>
          </a:prstGeom>
          <a:solidFill>
            <a:srgbClr val="CAD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7599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EC90F272-117D-6952-129A-7C8D5D74A978}"/>
              </a:ext>
            </a:extLst>
          </p:cNvPr>
          <p:cNvSpPr>
            <a:spLocks noGrp="1"/>
          </p:cNvSpPr>
          <p:nvPr/>
        </p:nvSpPr>
        <p:spPr>
          <a:xfrm>
            <a:off x="1064931" y="1997139"/>
            <a:ext cx="10001249" cy="1881178"/>
          </a:xfrm>
          <a:prstGeom prst="roundRect">
            <a:avLst>
              <a:gd name="adj" fmla="val 16033"/>
            </a:avLst>
          </a:prstGeom>
          <a:gradFill rotWithShape="1">
            <a:gsLst>
              <a:gs pos="0">
                <a:schemeClr val="accent1">
                  <a:lumMod val="40000"/>
                  <a:lumOff val="60000"/>
                </a:schemeClr>
              </a:gs>
              <a:gs pos="99000">
                <a:schemeClr val="accent1"/>
              </a:gs>
            </a:gsLst>
            <a:lin ang="2700000" scaled="1"/>
            <a:tileRect/>
          </a:gradFill>
          <a:ln>
            <a:noFill/>
          </a:ln>
          <a:effectLst>
            <a:outerShdw blurRad="508000" dist="190500" dir="5400000" sx="90000" sy="90000" algn="t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2" name="图片 14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 rot="20872454">
            <a:off x="7794794" y="610468"/>
            <a:ext cx="557862" cy="395714"/>
          </a:xfrm>
          <a:prstGeom prst="rect">
            <a:avLst/>
          </a:prstGeom>
        </p:spPr>
      </p:pic>
      <p:pic>
        <p:nvPicPr>
          <p:cNvPr id="53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27" y="1030271"/>
            <a:ext cx="10341346" cy="1297403"/>
          </a:xfrm>
          <a:prstGeom prst="rect">
            <a:avLst/>
          </a:prstGeom>
        </p:spPr>
      </p:pic>
      <p:pic>
        <p:nvPicPr>
          <p:cNvPr id="54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620" y="3776799"/>
            <a:ext cx="1426635" cy="1426635"/>
          </a:xfrm>
          <a:prstGeom prst="rect">
            <a:avLst/>
          </a:prstGeom>
        </p:spPr>
      </p:pic>
      <p:pic>
        <p:nvPicPr>
          <p:cNvPr id="55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0344" y="3786352"/>
            <a:ext cx="1426635" cy="1426635"/>
          </a:xfrm>
          <a:prstGeom prst="rect">
            <a:avLst/>
          </a:prstGeom>
        </p:spPr>
      </p:pic>
      <p:pic>
        <p:nvPicPr>
          <p:cNvPr id="56" name="图片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1513" y="3777948"/>
            <a:ext cx="1426635" cy="1426635"/>
          </a:xfrm>
          <a:prstGeom prst="rect">
            <a:avLst/>
          </a:prstGeom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2B114EB7-FA7C-40FA-875C-EE4123FC0AAE}"/>
              </a:ext>
            </a:extLst>
          </p:cNvPr>
          <p:cNvSpPr>
            <a:spLocks noGrp="1"/>
          </p:cNvSpPr>
          <p:nvPr/>
        </p:nvSpPr>
        <p:spPr>
          <a:xfrm>
            <a:off x="1104900" y="514350"/>
            <a:ext cx="1000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有数之形，无数之意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C447281-7BFD-4C95-85DC-57A472DA20ED}"/>
              </a:ext>
            </a:extLst>
          </p:cNvPr>
          <p:cNvSpPr>
            <a:spLocks noGrp="1"/>
          </p:cNvSpPr>
          <p:nvPr/>
        </p:nvSpPr>
        <p:spPr>
          <a:xfrm>
            <a:off x="972207" y="2485513"/>
            <a:ext cx="10341346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具体的数目构成伦理证词｜数字关系组织情感结构</a:t>
            </a:r>
          </a:p>
          <a:p>
            <a:r>
              <a:rPr lang="zh-CN" altLang="en-US" dirty="0"/>
              <a:t>约数传达经验尺度｜典故数字保存文化记忆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6F65984-650C-4D69-A0DE-5B9A501944A5}"/>
              </a:ext>
            </a:extLst>
          </p:cNvPr>
          <p:cNvSpPr>
            <a:spLocks noGrp="1"/>
          </p:cNvSpPr>
          <p:nvPr/>
        </p:nvSpPr>
        <p:spPr>
          <a:xfrm>
            <a:off x="2784584" y="5512019"/>
            <a:ext cx="628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zh-CN" altLang="en-US" dirty="0"/>
              <a:t>有限的数字形式，容纳层次丰厚的中国经验。</a:t>
            </a:r>
          </a:p>
          <a:p>
            <a:r>
              <a:rPr lang="zh-CN" altLang="en-US" dirty="0"/>
              <a:t>谢谢。</a:t>
            </a:r>
          </a:p>
        </p:txBody>
      </p:sp>
    </p:spTree>
    <p:extLst>
      <p:ext uri="{BB962C8B-B14F-4D97-AF65-F5344CB8AC3E}">
        <p14:creationId xmlns:p14="http://schemas.microsoft.com/office/powerpoint/2010/main" val="70011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55">
      <a:dk1>
        <a:srgbClr val="000000"/>
      </a:dk1>
      <a:lt1>
        <a:srgbClr val="FFFFFF"/>
      </a:lt1>
      <a:dk2>
        <a:srgbClr val="778495"/>
      </a:dk2>
      <a:lt2>
        <a:srgbClr val="F8F8F8"/>
      </a:lt2>
      <a:accent1>
        <a:srgbClr val="D2D7D0"/>
      </a:accent1>
      <a:accent2>
        <a:srgbClr val="A8B6C0"/>
      </a:accent2>
      <a:accent3>
        <a:srgbClr val="E6E2D4"/>
      </a:accent3>
      <a:accent4>
        <a:srgbClr val="475434"/>
      </a:accent4>
      <a:accent5>
        <a:srgbClr val="8D7545"/>
      </a:accent5>
      <a:accent6>
        <a:srgbClr val="FF3535"/>
      </a:accent6>
      <a:hlink>
        <a:srgbClr val="3602C9"/>
      </a:hlink>
      <a:folHlink>
        <a:srgbClr val="BFBFBF"/>
      </a:folHlink>
    </a:clrScheme>
    <a:fontScheme name="自定义 6">
      <a:majorFont>
        <a:latin typeface="Aa花语·满天星守望 (非商业使用)"/>
        <a:ea typeface="楷体"/>
        <a:cs typeface=""/>
      </a:majorFont>
      <a:minorFont>
        <a:latin typeface="Aa花语·满天星守望 (非商业使用)"/>
        <a:ea typeface="楷体"/>
        <a:cs typeface=""/>
      </a:minorFont>
    </a:fontScheme>
    <a:fmtScheme name="自定义 5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第一PPT，www.1ppt.com">
  <a:themeElements>
    <a:clrScheme name="自定义 55">
      <a:dk1>
        <a:srgbClr val="000000"/>
      </a:dk1>
      <a:lt1>
        <a:srgbClr val="FFFFFF"/>
      </a:lt1>
      <a:dk2>
        <a:srgbClr val="778495"/>
      </a:dk2>
      <a:lt2>
        <a:srgbClr val="F8F8F8"/>
      </a:lt2>
      <a:accent1>
        <a:srgbClr val="D2D7D0"/>
      </a:accent1>
      <a:accent2>
        <a:srgbClr val="A8B6C0"/>
      </a:accent2>
      <a:accent3>
        <a:srgbClr val="E6E2D4"/>
      </a:accent3>
      <a:accent4>
        <a:srgbClr val="475434"/>
      </a:accent4>
      <a:accent5>
        <a:srgbClr val="8D7545"/>
      </a:accent5>
      <a:accent6>
        <a:srgbClr val="FF3535"/>
      </a:accent6>
      <a:hlink>
        <a:srgbClr val="3602C9"/>
      </a:hlink>
      <a:folHlink>
        <a:srgbClr val="BFBFBF"/>
      </a:folHlink>
    </a:clrScheme>
    <a:fontScheme name="自定义 6">
      <a:majorFont>
        <a:latin typeface="Aa花语·满天星守望 (非商业使用)"/>
        <a:ea typeface="楷体"/>
        <a:cs typeface=""/>
      </a:majorFont>
      <a:minorFont>
        <a:latin typeface="Aa花语·满天星守望 (非商业使用)"/>
        <a:ea typeface="楷体"/>
        <a:cs typeface=""/>
      </a:minorFont>
    </a:fontScheme>
    <a:fmtScheme name="自定义 5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971</Words>
  <Application/>
  <DocSecurity>0</DocSecurity>
  <PresentationFormat>宽屏</PresentationFormat>
  <Paragraphs>260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微软雅黑</vt:lpstr>
      <vt:lpstr>Aa花语·满天星守望 (非商业使用)</vt:lpstr>
      <vt:lpstr>Kaiti SC</vt:lpstr>
      <vt:lpstr>Arial</vt:lpstr>
      <vt:lpstr>Calibri</vt:lpstr>
      <vt:lpstr>Calibri Light</vt:lpstr>
      <vt:lpstr>第一PPT，www.1ppt.com</vt:lpstr>
      <vt:lpstr>自定义设计方案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有数之形，无数之意：隋唐至明清诗词中的数字文化观</dc:title>
  <dc:creator>Edward Zizheng Lv</dc:creator>
  <cp:lastModifiedBy>Edward Zizheng Lv</cp:lastModifiedBy>
</cp:coreProperties>
</file>